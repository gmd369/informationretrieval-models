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INFORMATION RETRIEVAL • FYP-BASED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652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Finding the right energy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4A90F5"/>
                </a:solidFill>
                <a:latin typeface="Aptos"/>
              </a:rPr>
              <a:t>Applying 7 retrieval models to VoltMize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46120"/>
            <a:ext cx="10863072" cy="1956816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5844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858768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When a factory user describes a problem, which past incident or diagnostic record should appear first?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73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Course presentation • 12–13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01 • FYP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VoltMize turns meter streams into actionable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2468880" cy="2157984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523744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2666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93008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Factory meter readings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468880" cy="2157984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23744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2666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93008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Abnormal consumption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331720"/>
            <a:ext cx="2468880" cy="2157984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523744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02666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493008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Likely cause +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2331720"/>
            <a:ext cx="2468880" cy="2157984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523744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02666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493008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Recommended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92040"/>
            <a:ext cx="10863072" cy="1005840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1389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IR retrieval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5093208"/>
            <a:ext cx="81107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Retrieve the most relevant historical evidence for a natural-language factory-energy query.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02 • RETRIEVAL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One project question, two kinds of evidence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93392"/>
          <a:ext cx="108630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43984"/>
                <a:gridCol w="4498848"/>
              </a:tblGrid>
              <a:tr h="67665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Element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Unstructured text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Structured text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Query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“compressor abnormal high energy night shift”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“weekend no production shutdown consumption”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Document / item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Technician incident report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Diagnostic JSON record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Ranked reports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Ranked records / regions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Relevant incidents in top 3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Correct diagnosis and action in top 3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6692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Why two datasets?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14416"/>
            <a:ext cx="8732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The models make different assumptions about document structure, so a fair demo gives each family the data shape it was designed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03 • MODEL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From course concepts to VoltMize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5257800" cy="4096512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90F5"/>
                </a:solidFill>
                <a:latin typeface="Aptos"/>
              </a:rPr>
              <a:t>UNSTRUCTURED INCIDENT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70632"/>
            <a:ext cx="4370832" cy="233172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Boolean — exact presence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Vector Space — TF‑IDF similarity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BIM — probability from binary evidence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BM25 — term frequency + rarity + 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93392"/>
            <a:ext cx="5349240" cy="4096512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304288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STRUCTURED DIAGNOSTIC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70632"/>
            <a:ext cx="4443984" cy="233172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Overlapped Lists — terms together in one region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Non‑Overlapped Lists — terms across regions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Proximal Nodes — nearby fields /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5330952"/>
            <a:ext cx="43708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Not treated as retrieval models: clustering and classification are supporting organization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04 •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Five judged queries per data type • Top‑3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Ground truth was written before scoring: each query has an explicit relevant-document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67712"/>
            <a:ext cx="2240280" cy="121615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PRECISION@3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4A90F5"/>
                </a:solidFill>
                <a:latin typeface="Aptos"/>
              </a:rPr>
              <a:t>hits 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9981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Aptos"/>
              </a:rPr>
              <a:t>How clean are the first 3?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8376" y="2267712"/>
            <a:ext cx="2240280" cy="121615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2395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RECALL@3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651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DD4BF"/>
                </a:solidFill>
                <a:latin typeface="Aptos"/>
              </a:rPr>
              <a:t>hits ÷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309981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Aptos"/>
              </a:rPr>
              <a:t>How much did we recover?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2267712"/>
            <a:ext cx="2240280" cy="121615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395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F1@3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2651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4D399"/>
                </a:solidFill>
                <a:latin typeface="Aptos"/>
              </a:rPr>
              <a:t>P +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09981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Aptos"/>
              </a:rPr>
              <a:t>Precision + recall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08392" y="2267712"/>
            <a:ext cx="2240280" cy="121615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2395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3" y="2651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Aptos"/>
              </a:rPr>
              <a:t>first-hit 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3" y="309981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Aptos"/>
              </a:rPr>
              <a:t>How soon is first good hit?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267712"/>
            <a:ext cx="2240280" cy="121615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2992" y="2395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Aptos"/>
              </a:rPr>
              <a:t>nDCG@3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651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87171"/>
                </a:solidFill>
                <a:latin typeface="Aptos"/>
              </a:rPr>
              <a:t>rank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09981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Aptos"/>
              </a:rPr>
              <a:t>Rewards good ordering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50208"/>
            <a:ext cx="10863072" cy="1627632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Test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215384"/>
            <a:ext cx="8046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Same tokenization • same queries • same relevance judgments • deterministic 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965192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Aptos"/>
              </a:rPr>
              <a:t>This is a small classroom benchmark, so the scores demonstrate behavior—not production readiness.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DATA TYPE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Unstructured text: 15 technician incident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Fictional but traceable to VoltMize events: energy anomalies, context, diagnosis, and maintenance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6629400" cy="344728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A90F5"/>
                </a:solidFill>
                <a:latin typeface="Aptos"/>
              </a:rPr>
              <a:t>U01 • Compressor‑1 night shift anomaly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71216"/>
            <a:ext cx="5925312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“During the night shift Compressor‑1 drew unusually high energy. Power stayed above 92 kW while production was idle. Inspect unload valve leakage and the pressure setpoint.”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3659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Document = title + free-text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057400"/>
            <a:ext cx="3977639" cy="3447288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395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WHY IT 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16352"/>
            <a:ext cx="3246120" cy="205740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Technicians naturally write prose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Term frequency and rarity matter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No reliable fields are required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Search supports incident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064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Aptos"/>
              </a:rPr>
              <a:t>5 queries • 15 documents • qrels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UNSTRUCTURED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Boolean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OR selects a document when any query term is present; every selected document 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compressor abnormal high energy night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ANY MATCH → score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✓ compressor  ✓ high  ✓ energy  ✓ night  ✓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5 matches—but Boolean ignores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1.000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U02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✓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1 match receives same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1.000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U03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✓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1 match receives same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1.000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1.000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U02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1.000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U03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Tie shown in document-ID order.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Boolean answers MATCH / NO MATCH; it does not know that five matches are stronger than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UNSTRUCTURED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Vector Space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TF‑IDF turns the query and reports into vectors; cosine similarity ranks their direction.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compressor abnormal high energy night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TF‑IDF → COSINE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5 terms • compressor×2 • night×2 • shift×2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strong shared weighted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0.4365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abnormal + compressor +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rare ‘abnormal’ adds high 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0.2413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compressor×2 + 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fewer terms, still similar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0.2093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0.4365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0.2413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0.2093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Largest cosine appears first.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Frequency and rarity shape the vectors; cosine compares the complete term-weight pattern.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UNSTRUCTURED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Binary Independence Model (BIM)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Each term is binary evidence; present rare terms contribute larger RSJ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compressor abnormal high energy night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PRESENT? × RARITY → SUM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1 0 1 1 1 1  → five present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sum RSJ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4.7107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1 1 0 0 0 1  → includes rare ‘abnormal’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rare evidence lifts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4.4799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1 0 0 0 1 0  → two present terms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repetition is ignored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2.9594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4.7107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4.4799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2.9594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Binary vector order follows query terms.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BIM ranks by the strength of present evidence, not by how many times a word repeats.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UNSTRUCTURED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BM25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For every matching term: rarity × saturated frequency × length normalization.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compressor abnormal high energy night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IDF × TF SATURATION ×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5 terms • compressor×2 • night×2 • shift×2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rarity + repeat boost +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7.9923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abnormal + compressor +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rare terms; each occurs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5.2178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compressor×2 + 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repeat boost, lower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4.0005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7.9923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5.2178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U11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4.0005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Scores use k1=1.5 and b=0.75.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BM25 rewards useful repetition but limits spam, then corrects for document length.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UNSTRUCTURED TEXT 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CODE → FORMULA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Where BM25 scoring happens in the real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The highlighted lines are the implementation that generated the scores on the previous slide.</a:t>
            </a:r>
          </a:p>
        </p:txBody>
      </p:sp>
      <p:pic>
        <p:nvPicPr>
          <p:cNvPr id="8" name="Picture 7" descr="bm25_code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7360920" cy="43159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57031" y="2011680"/>
            <a:ext cx="3264408" cy="431596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0496" y="23317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① TOKENIZE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2615184"/>
            <a:ext cx="2487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Line 22 turns the query into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322783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② 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3511296"/>
            <a:ext cx="2487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Line 25 measures document length.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4123944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③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4407407"/>
            <a:ext cx="2487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Lines 31–32 compute IDF and add each BM25 term 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5020056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④ 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5303520"/>
            <a:ext cx="2487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Line 35 sorts highest score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5943600"/>
            <a:ext cx="2487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Same code → same scores → same top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UNSTRUCTURED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Ranking changes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Averages across UQ1–UQ5; higher is better.</a:t>
            </a:r>
          </a:p>
        </p:txBody>
      </p:sp>
      <p:pic>
        <p:nvPicPr>
          <p:cNvPr id="8" name="Picture 7" descr="unstructur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5104"/>
            <a:ext cx="754380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975104"/>
            <a:ext cx="3063240" cy="379476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2860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1664" y="27432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0.923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3300984"/>
            <a:ext cx="22494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nDCG@3 for VSM, BIM &amp; 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408736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425696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BM25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4937760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Tie broken by practical robustness: frequency saturation and length normalization.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DATA TYPE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Structured text: 12 diagnostic JSON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Each record preserves the stages VoltMize needs to explain an anomaly.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29968"/>
            <a:ext cx="6565392" cy="45720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12264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Compressor‑1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15184"/>
            <a:ext cx="6565392" cy="45720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715768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High energy during night 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00400"/>
            <a:ext cx="6565392" cy="45720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00984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symptoms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28269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94 kW • idle • cycling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85616"/>
            <a:ext cx="6565392" cy="45720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86200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meter_context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86791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night • 488 kWh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70832"/>
            <a:ext cx="6565392" cy="45720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47141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probable_cause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53128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unload valve leakage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956048"/>
            <a:ext cx="6565392" cy="45720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56632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038344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inspect valve; reduce setpoint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029968"/>
            <a:ext cx="3977639" cy="338328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23500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WHY STRUCTURE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761488"/>
            <a:ext cx="3264408" cy="214884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The same term can occur in different fields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Cause and action may be separated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Region co‑occurrence changes meaning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Tree distance can express closeness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Overlapped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Count query terms inside each field; only the best single field becomes the score basis.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night shift compressor high energy cause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MAX MATCHES IN ONE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summary: night + shift + high +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best field = 4 → 4 + 4/7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4.5714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meter_context: energy +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best field = 2 → 2 + 2/7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2.2857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S06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meter_context: energy + 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best field = 2 → 2 + 2/7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2.2857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4.5714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2.2857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S06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2.2857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S02 is relevant, but its terms are split across fields.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This model rewards co-occurrence inside one region and ignores evidence scattered elsewhere.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Non‑Overlapped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Merge unique matches from every field, then divide matched query terms by query 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night shift compressor high energy cause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UNION ACROSS FIELDS ÷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equipment: compressor • summary: night shift high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5 unique terms ÷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0.7143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symptoms: high • context: energy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3 unique terms ÷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0.4286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S02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equipment: compressor • symptoms/context: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2 unique terms ÷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ptos"/>
              </a:rPr>
              <a:t>0.2857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0.7143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0.4286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S02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0.2857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Distributed evidence lets S02 enter the top 3.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Unlike overlap, a match can be assembled from equipment, symptoms, context, cause, and 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STRUCTURED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QUERY → EVIDENCE → SCORE →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Proximal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Coverage finds the terms; node distance rewards matches that occur in the same or nearby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63072" cy="621792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8"/>
            <a:ext cx="5925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night shift compressor high energy cause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039112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2×COVERAGE + Σ 1/(1+DISTANCE)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0632"/>
            <a:ext cx="7616952" cy="749808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5336" y="2889503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equipment[0] ↔ summary[1] ↔ context[3]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5/7 coverage + many close 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4436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9.4286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6791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22191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high[2] ↔ energy,shift[3]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840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3/7 coverage + 1+.5+.5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877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2.8571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36008"/>
            <a:ext cx="7616952" cy="749808"/>
          </a:xfrm>
          <a:prstGeom prst="roundRect">
            <a:avLst/>
          </a:prstGeom>
          <a:solidFill>
            <a:srgbClr val="16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0060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Aptos"/>
              </a:rPr>
              <a:t>S06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54880"/>
            <a:ext cx="3813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energy[1,3] + night[3]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77316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Aptos"/>
              </a:rPr>
              <a:t>2/7 coverage + same-node 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80974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A90F5"/>
                </a:solidFill>
                <a:latin typeface="Aptos"/>
              </a:rPr>
              <a:t>1.5714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2724912"/>
            <a:ext cx="2999232" cy="3127248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4A9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962656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F5"/>
                </a:solidFill>
                <a:latin typeface="Aptos"/>
              </a:rPr>
              <a:t>TOP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401568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3502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48386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S01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02152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9.4286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986784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40873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6908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S03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4087368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2.8571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2542032" cy="438912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6" y="46725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EC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6542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S06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672584"/>
            <a:ext cx="8412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  <a:latin typeface="Aptos"/>
              </a:rPr>
              <a:t>1.5714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294376"/>
            <a:ext cx="22311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Node numbers follow the six-field record order.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89320"/>
            <a:ext cx="10863072" cy="502920"/>
          </a:xfrm>
          <a:prstGeom prst="round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1447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099048"/>
            <a:ext cx="9710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Same node gives bonus 1; adjacent nodes .5; farther evidence contributes progressively less.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STRUCTURED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Distributed evidence favors Non‑Overlapped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Averages across SQ1–SQ5; higher is better.</a:t>
            </a:r>
          </a:p>
        </p:txBody>
      </p:sp>
      <p:pic>
        <p:nvPicPr>
          <p:cNvPr id="8" name="Picture 7" descr="structur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5104"/>
            <a:ext cx="754380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975104"/>
            <a:ext cx="3063240" cy="3794760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2860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BEST nDCG@3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1664" y="27432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  <a:latin typeface="Aptos"/>
              </a:rPr>
              <a:t>0.968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3310128"/>
            <a:ext cx="2249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Non‑Overlapped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408736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425696"/>
            <a:ext cx="22677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Aptos"/>
              </a:rPr>
              <a:t>VoltMize queries mix equipment + symptom + context + action. Those clues live in different fields.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MODEL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There is no honest single winner across different data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Aptos"/>
              </a:rPr>
              <a:t>We select one model per evidence shape, then choose the measured overall leader for the final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257800" cy="3255264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90F5"/>
                </a:solidFill>
                <a:latin typeface="Aptos"/>
              </a:rPr>
              <a:t>FREE-TEXT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971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BM25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57600"/>
            <a:ext cx="4251960" cy="128016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Tied best measured nDCG@3: 0.923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Most robust ranking assumptions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Recommended incident-search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255264"/>
          </a:xfrm>
          <a:prstGeom prst="roundRect">
            <a:avLst/>
          </a:prstGeom>
          <a:solidFill>
            <a:srgbClr val="0E2035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8716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STRUCTURED RECORDS • OVERALL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9718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34D399"/>
                </a:solidFill>
                <a:latin typeface="Aptos"/>
              </a:rPr>
              <a:t>Non‑Overlapped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315968" cy="128016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Highest measured nDCG@3: 0.968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Recall@3: 1.000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Matches distributed diagnostic 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The model’s assumptions explain the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65960"/>
          <a:ext cx="1086307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886200"/>
                <a:gridCol w="4142232"/>
              </a:tblGrid>
              <a:tr h="6019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Model behavior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Helps when…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DD4BF"/>
                          </a:solidFill>
                          <a:latin typeface="Aptos"/>
                        </a:defRPr>
                      </a:pPr>
                      <a:r>
                        <a:t>Hurts when…</a:t>
                      </a:r>
                    </a:p>
                  </a:txBody>
                  <a:tcPr marL="73152" marR="73152">
                    <a:solidFill>
                      <a:srgbClr val="132F4C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Exact presence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filters are strict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users describe problems loosely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Similarity / probability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documents are free text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field structure carries meaning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Same-region overlap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terms must co-occur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evidence spans fields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Across-region evidence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diagnosis is distributed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 phrase must stay together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Structural proximity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nearby nodes are meaningful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field order is only conventional</a:t>
                      </a:r>
                    </a:p>
                  </a:txBody>
                  <a:tcPr marL="73152" marR="73152">
                    <a:solidFill>
                      <a:srgbClr val="0E203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58247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Core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5769864"/>
            <a:ext cx="8915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Choose a retrieval model because its assumptions match the document—not because its name sounds advanced.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APPENDIX • QUERY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Ten VoltMize questions used for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57800" cy="4005072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9514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90F5"/>
                </a:solidFill>
                <a:latin typeface="Aptos"/>
              </a:rPr>
              <a:t>UNSTRUCTURED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4056"/>
            <a:ext cx="4526280" cy="269748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UQ1  compressor abnormal high energy night shift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UQ2  low power factor motor reactive energy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UQ3  weekend idle consumption no production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UQ4  temperature cooling chiller excess energy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UQ5  missing meter readings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4005072"/>
          </a:xfrm>
          <a:prstGeom prst="round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2951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734056"/>
            <a:ext cx="4590288" cy="2697480"/>
          </a:xfrm>
          <a:prstGeom prst="rect">
            <a:avLst/>
          </a:prstGeom>
          <a:noFill/>
        </p:spPr>
        <p:txBody>
          <a:bodyPr wrap="square" lIns="73152" rIns="73152" tIns="0" bIns="0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SQ1  night shift compressor high energy cause action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SQ2  low power factor reactive motor capacitor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SQ3  weekend no production shutdown consumption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SQ4  temperature chiller excess energy cause</a:t>
            </a:r>
          </a:p>
          <a:p>
            <a:pPr>
              <a:spcAft>
                <a:spcPts val="13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SQ5  missing meter readings communication 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AEC0"/>
                </a:solidFill>
                <a:latin typeface="Aptos"/>
              </a:rPr>
              <a:t>VOLT MIZE ×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0AEC0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From meter data to the right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A0AEC0"/>
                </a:solidFill>
                <a:latin typeface="Aptos"/>
              </a:rPr>
              <a:t>We connected course theory to a working, measured retrieval component for VoltMize.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10863072" cy="1188720"/>
          </a:xfrm>
          <a:prstGeom prst="roundRect">
            <a:avLst/>
          </a:prstGeom>
          <a:solidFill>
            <a:srgbClr val="132F4C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826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FINAL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3191256"/>
            <a:ext cx="7909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BM25 for incident prose. Non‑Overlapped Lists for structured diagnosis.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01184"/>
            <a:ext cx="10863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4A90F5"/>
                </a:solidFill>
                <a:latin typeface="Aptos"/>
              </a:rPr>
              <a:t>Retrieve → rank → evaluate → 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51576"/>
            <a:ext cx="10863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